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9" r:id="rId1"/>
  </p:sldMasterIdLst>
  <p:notesMasterIdLst>
    <p:notesMasterId r:id="rId12"/>
  </p:notesMasterIdLst>
  <p:handoutMasterIdLst>
    <p:handoutMasterId r:id="rId13"/>
  </p:handoutMasterIdLst>
  <p:sldIdLst>
    <p:sldId id="947" r:id="rId2"/>
    <p:sldId id="953" r:id="rId3"/>
    <p:sldId id="954" r:id="rId4"/>
    <p:sldId id="966" r:id="rId5"/>
    <p:sldId id="962" r:id="rId6"/>
    <p:sldId id="964" r:id="rId7"/>
    <p:sldId id="970" r:id="rId8"/>
    <p:sldId id="969" r:id="rId9"/>
    <p:sldId id="968" r:id="rId10"/>
    <p:sldId id="967" r:id="rId11"/>
  </p:sldIdLst>
  <p:sldSz cx="12192000" cy="6858000"/>
  <p:notesSz cx="6669088" cy="9926638"/>
  <p:defaultTextStyle>
    <a:defPPr>
      <a:defRPr lang="da-DK"/>
    </a:defPPr>
    <a:lvl1pPr algn="l" rtl="0" fontAlgn="base">
      <a:spcBef>
        <a:spcPct val="0"/>
      </a:spcBef>
      <a:spcAft>
        <a:spcPct val="0"/>
      </a:spcAft>
      <a:defRPr sz="1600" i="1" kern="1200">
        <a:solidFill>
          <a:srgbClr val="6E6E6F"/>
        </a:solidFill>
        <a:latin typeface="Verdana" pitchFamily="34" charset="0"/>
        <a:ea typeface="+mn-ea"/>
        <a:cs typeface="Times New Roman" pitchFamily="18" charset="0"/>
      </a:defRPr>
    </a:lvl1pPr>
    <a:lvl2pPr marL="457200" algn="l" rtl="0" fontAlgn="base">
      <a:spcBef>
        <a:spcPct val="0"/>
      </a:spcBef>
      <a:spcAft>
        <a:spcPct val="0"/>
      </a:spcAft>
      <a:defRPr sz="1600" i="1" kern="1200">
        <a:solidFill>
          <a:srgbClr val="6E6E6F"/>
        </a:solidFill>
        <a:latin typeface="Verdana" pitchFamily="34" charset="0"/>
        <a:ea typeface="+mn-ea"/>
        <a:cs typeface="Times New Roman" pitchFamily="18" charset="0"/>
      </a:defRPr>
    </a:lvl2pPr>
    <a:lvl3pPr marL="914400" algn="l" rtl="0" fontAlgn="base">
      <a:spcBef>
        <a:spcPct val="0"/>
      </a:spcBef>
      <a:spcAft>
        <a:spcPct val="0"/>
      </a:spcAft>
      <a:defRPr sz="1600" i="1" kern="1200">
        <a:solidFill>
          <a:srgbClr val="6E6E6F"/>
        </a:solidFill>
        <a:latin typeface="Verdana" pitchFamily="34" charset="0"/>
        <a:ea typeface="+mn-ea"/>
        <a:cs typeface="Times New Roman" pitchFamily="18" charset="0"/>
      </a:defRPr>
    </a:lvl3pPr>
    <a:lvl4pPr marL="1371600" algn="l" rtl="0" fontAlgn="base">
      <a:spcBef>
        <a:spcPct val="0"/>
      </a:spcBef>
      <a:spcAft>
        <a:spcPct val="0"/>
      </a:spcAft>
      <a:defRPr sz="1600" i="1" kern="1200">
        <a:solidFill>
          <a:srgbClr val="6E6E6F"/>
        </a:solidFill>
        <a:latin typeface="Verdana" pitchFamily="34" charset="0"/>
        <a:ea typeface="+mn-ea"/>
        <a:cs typeface="Times New Roman" pitchFamily="18" charset="0"/>
      </a:defRPr>
    </a:lvl4pPr>
    <a:lvl5pPr marL="1828800" algn="l" rtl="0" fontAlgn="base">
      <a:spcBef>
        <a:spcPct val="0"/>
      </a:spcBef>
      <a:spcAft>
        <a:spcPct val="0"/>
      </a:spcAft>
      <a:defRPr sz="1600" i="1" kern="1200">
        <a:solidFill>
          <a:srgbClr val="6E6E6F"/>
        </a:solidFill>
        <a:latin typeface="Verdana" pitchFamily="34" charset="0"/>
        <a:ea typeface="+mn-ea"/>
        <a:cs typeface="Times New Roman" pitchFamily="18" charset="0"/>
      </a:defRPr>
    </a:lvl5pPr>
    <a:lvl6pPr marL="2286000" algn="l" defTabSz="914400" rtl="0" eaLnBrk="1" latinLnBrk="0" hangingPunct="1">
      <a:defRPr sz="1600" i="1" kern="1200">
        <a:solidFill>
          <a:srgbClr val="6E6E6F"/>
        </a:solidFill>
        <a:latin typeface="Verdana" pitchFamily="34" charset="0"/>
        <a:ea typeface="+mn-ea"/>
        <a:cs typeface="Times New Roman" pitchFamily="18" charset="0"/>
      </a:defRPr>
    </a:lvl6pPr>
    <a:lvl7pPr marL="2743200" algn="l" defTabSz="914400" rtl="0" eaLnBrk="1" latinLnBrk="0" hangingPunct="1">
      <a:defRPr sz="1600" i="1" kern="1200">
        <a:solidFill>
          <a:srgbClr val="6E6E6F"/>
        </a:solidFill>
        <a:latin typeface="Verdana" pitchFamily="34" charset="0"/>
        <a:ea typeface="+mn-ea"/>
        <a:cs typeface="Times New Roman" pitchFamily="18" charset="0"/>
      </a:defRPr>
    </a:lvl7pPr>
    <a:lvl8pPr marL="3200400" algn="l" defTabSz="914400" rtl="0" eaLnBrk="1" latinLnBrk="0" hangingPunct="1">
      <a:defRPr sz="1600" i="1" kern="1200">
        <a:solidFill>
          <a:srgbClr val="6E6E6F"/>
        </a:solidFill>
        <a:latin typeface="Verdana" pitchFamily="34" charset="0"/>
        <a:ea typeface="+mn-ea"/>
        <a:cs typeface="Times New Roman" pitchFamily="18" charset="0"/>
      </a:defRPr>
    </a:lvl8pPr>
    <a:lvl9pPr marL="3657600" algn="l" defTabSz="914400" rtl="0" eaLnBrk="1" latinLnBrk="0" hangingPunct="1">
      <a:defRPr sz="1600" i="1" kern="1200">
        <a:solidFill>
          <a:srgbClr val="6E6E6F"/>
        </a:solidFill>
        <a:latin typeface="Verdana" pitchFamily="34" charset="0"/>
        <a:ea typeface="+mn-ea"/>
        <a:cs typeface="Times New Roman" pitchFamily="18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4032" userDrawn="1">
          <p15:clr>
            <a:srgbClr val="A4A3A4"/>
          </p15:clr>
        </p15:guide>
        <p15:guide id="2" pos="704" userDrawn="1">
          <p15:clr>
            <a:srgbClr val="A4A3A4"/>
          </p15:clr>
        </p15:guide>
        <p15:guide id="3" pos="70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6">
          <p15:clr>
            <a:srgbClr val="A4A3A4"/>
          </p15:clr>
        </p15:guide>
        <p15:guide id="2" pos="210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F3E72"/>
    <a:srgbClr val="960000"/>
    <a:srgbClr val="D8CEC6"/>
    <a:srgbClr val="FFC2AF"/>
    <a:srgbClr val="FFCC66"/>
    <a:srgbClr val="CCFF99"/>
    <a:srgbClr val="008000"/>
    <a:srgbClr val="000099"/>
    <a:srgbClr val="0000FF"/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94" autoAdjust="0"/>
    <p:restoredTop sz="78973" autoAdjust="0"/>
  </p:normalViewPr>
  <p:slideViewPr>
    <p:cSldViewPr snapToGrid="0">
      <p:cViewPr varScale="1">
        <p:scale>
          <a:sx n="99" d="100"/>
          <a:sy n="99" d="100"/>
        </p:scale>
        <p:origin x="1448" y="176"/>
      </p:cViewPr>
      <p:guideLst>
        <p:guide orient="horz" pos="4032"/>
        <p:guide pos="704"/>
        <p:guide pos="70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>
        <p:scale>
          <a:sx n="75" d="100"/>
          <a:sy n="75" d="100"/>
        </p:scale>
        <p:origin x="2214" y="-660"/>
      </p:cViewPr>
      <p:guideLst>
        <p:guide orient="horz" pos="3126"/>
        <p:guide pos="210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92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i="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da-DK"/>
          </a:p>
        </p:txBody>
      </p:sp>
      <p:sp>
        <p:nvSpPr>
          <p:cNvPr id="8909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79838" y="0"/>
            <a:ext cx="28892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i="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da-DK"/>
          </a:p>
        </p:txBody>
      </p:sp>
      <p:sp>
        <p:nvSpPr>
          <p:cNvPr id="8909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9750"/>
            <a:ext cx="28892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i="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da-DK"/>
          </a:p>
        </p:txBody>
      </p:sp>
      <p:sp>
        <p:nvSpPr>
          <p:cNvPr id="8909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79838" y="9429750"/>
            <a:ext cx="28892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i="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fld id="{75DE22A8-CE6D-4471-800F-32C4971C27FB}" type="slidenum">
              <a:rPr lang="da-DK"/>
              <a:pPr>
                <a:defRPr/>
              </a:pPr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6863251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92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i="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da-DK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79838" y="0"/>
            <a:ext cx="28892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i="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da-DK"/>
          </a:p>
        </p:txBody>
      </p:sp>
      <p:sp>
        <p:nvSpPr>
          <p:cNvPr id="2458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8575" y="744538"/>
            <a:ext cx="6615113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89000" y="4714875"/>
            <a:ext cx="4891088" cy="446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a-DK" noProof="0"/>
              <a:t>Klik for at redigere teksttypografierne i masteren</a:t>
            </a:r>
          </a:p>
          <a:p>
            <a:pPr lvl="1"/>
            <a:r>
              <a:rPr lang="da-DK" noProof="0"/>
              <a:t>Andet niveau</a:t>
            </a:r>
          </a:p>
          <a:p>
            <a:pPr lvl="2"/>
            <a:r>
              <a:rPr lang="da-DK" noProof="0"/>
              <a:t>Tredje niveau</a:t>
            </a:r>
          </a:p>
          <a:p>
            <a:pPr lvl="3"/>
            <a:r>
              <a:rPr lang="da-DK" noProof="0"/>
              <a:t>Fjerde niveau</a:t>
            </a:r>
          </a:p>
          <a:p>
            <a:pPr lvl="4"/>
            <a:r>
              <a:rPr lang="da-DK" noProof="0"/>
              <a:t>Femte niveau</a:t>
            </a:r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9750"/>
            <a:ext cx="28892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i="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da-DK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79838" y="9429750"/>
            <a:ext cx="28892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i="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fld id="{12CD28B3-E15B-4014-93F9-3F87C934E016}" type="slidenum">
              <a:rPr lang="da-DK"/>
              <a:pPr>
                <a:defRPr/>
              </a:pPr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26116467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2CD28B3-E15B-4014-93F9-3F87C934E016}" type="slidenum">
              <a:rPr lang="da-DK" smtClean="0"/>
              <a:pPr>
                <a:defRPr/>
              </a:pPr>
              <a:t>3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3267261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2CD28B3-E15B-4014-93F9-3F87C934E016}" type="slidenum">
              <a:rPr lang="da-DK" smtClean="0"/>
              <a:pPr>
                <a:defRPr/>
              </a:pPr>
              <a:t>4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7705629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2CD28B3-E15B-4014-93F9-3F87C934E016}" type="slidenum">
              <a:rPr lang="da-DK" smtClean="0"/>
              <a:pPr>
                <a:defRPr/>
              </a:pPr>
              <a:t>6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6875160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2CD28B3-E15B-4014-93F9-3F87C934E016}" type="slidenum">
              <a:rPr lang="da-DK" smtClean="0"/>
              <a:pPr>
                <a:defRPr/>
              </a:pPr>
              <a:t>8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9962529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2CD28B3-E15B-4014-93F9-3F87C934E016}" type="slidenum">
              <a:rPr lang="da-DK" smtClean="0"/>
              <a:pPr>
                <a:defRPr/>
              </a:pPr>
              <a:t>9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86970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2CD28B3-E15B-4014-93F9-3F87C934E016}" type="slidenum">
              <a:rPr lang="da-DK" smtClean="0"/>
              <a:pPr>
                <a:defRPr/>
              </a:pPr>
              <a:t>10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1193408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44696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Text&#10;&#10;Description automatically generated">
            <a:extLst>
              <a:ext uri="{FF2B5EF4-FFF2-40B4-BE49-F238E27FC236}">
                <a16:creationId xmlns:a16="http://schemas.microsoft.com/office/drawing/2014/main" id="{A66511A5-2C9A-7A50-2B7E-D353B2906DA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3963"/>
          <a:stretch/>
        </p:blipFill>
        <p:spPr>
          <a:xfrm>
            <a:off x="10358493" y="19878"/>
            <a:ext cx="1783812" cy="42882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8823B59-771C-3F12-2560-6695C943155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8356" y="108793"/>
            <a:ext cx="2206488" cy="242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5316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6" r:id="rId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/>
        </a:defRPr>
      </a:lvl5pPr>
      <a:lvl6pPr marL="457200" algn="ctr" fontAlgn="base">
        <a:spcBef>
          <a:spcPct val="0"/>
        </a:spcBef>
        <a:spcAft>
          <a:spcPct val="0"/>
        </a:spcAft>
        <a:defRPr sz="4400">
          <a:solidFill>
            <a:schemeClr val="tx2">
              <a:alpha val="100000"/>
            </a:schemeClr>
          </a:solidFill>
          <a:latin typeface="Arial"/>
        </a:defRPr>
      </a:lvl6pPr>
      <a:lvl7pPr marL="914400" algn="ctr" fontAlgn="base">
        <a:spcBef>
          <a:spcPct val="0"/>
        </a:spcBef>
        <a:spcAft>
          <a:spcPct val="0"/>
        </a:spcAft>
        <a:defRPr sz="4400">
          <a:solidFill>
            <a:schemeClr val="tx2">
              <a:alpha val="100000"/>
            </a:schemeClr>
          </a:solidFill>
          <a:latin typeface="Arial"/>
        </a:defRPr>
      </a:lvl7pPr>
      <a:lvl8pPr marL="1371600" algn="ctr" fontAlgn="base">
        <a:spcBef>
          <a:spcPct val="0"/>
        </a:spcBef>
        <a:spcAft>
          <a:spcPct val="0"/>
        </a:spcAft>
        <a:defRPr sz="4400">
          <a:solidFill>
            <a:schemeClr val="tx2">
              <a:alpha val="100000"/>
            </a:schemeClr>
          </a:solidFill>
          <a:latin typeface="Arial"/>
        </a:defRPr>
      </a:lvl8pPr>
      <a:lvl9pPr marL="1828800" algn="ctr" fontAlgn="base">
        <a:spcBef>
          <a:spcPct val="0"/>
        </a:spcBef>
        <a:spcAft>
          <a:spcPct val="0"/>
        </a:spcAft>
        <a:defRPr sz="4400">
          <a:solidFill>
            <a:schemeClr val="tx2">
              <a:alpha val="100000"/>
            </a:schemeClr>
          </a:solidFill>
          <a:latin typeface="Arial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fontAlgn="base">
        <a:spcBef>
          <a:spcPct val="20000"/>
        </a:spcBef>
        <a:spcAft>
          <a:spcPct val="0"/>
        </a:spcAft>
        <a:buChar char="»"/>
        <a:defRPr sz="2000">
          <a:solidFill>
            <a:schemeClr val="tx1">
              <a:alpha val="100000"/>
            </a:schemeClr>
          </a:solidFill>
          <a:latin typeface="+mn-lt"/>
        </a:defRPr>
      </a:lvl6pPr>
      <a:lvl7pPr marL="2971800" indent="-228600" algn="l" fontAlgn="base">
        <a:spcBef>
          <a:spcPct val="20000"/>
        </a:spcBef>
        <a:spcAft>
          <a:spcPct val="0"/>
        </a:spcAft>
        <a:buChar char="»"/>
        <a:defRPr sz="2000">
          <a:solidFill>
            <a:schemeClr val="tx1">
              <a:alpha val="100000"/>
            </a:schemeClr>
          </a:solidFill>
          <a:latin typeface="+mn-lt"/>
        </a:defRPr>
      </a:lvl7pPr>
      <a:lvl8pPr marL="3429000" indent="-228600" algn="l" fontAlgn="base">
        <a:spcBef>
          <a:spcPct val="20000"/>
        </a:spcBef>
        <a:spcAft>
          <a:spcPct val="0"/>
        </a:spcAft>
        <a:buChar char="»"/>
        <a:defRPr sz="2000">
          <a:solidFill>
            <a:schemeClr val="tx1">
              <a:alpha val="100000"/>
            </a:schemeClr>
          </a:solidFill>
          <a:latin typeface="+mn-lt"/>
        </a:defRPr>
      </a:lvl8pPr>
      <a:lvl9pPr marL="3886200" indent="-228600" algn="l" fontAlgn="base">
        <a:spcBef>
          <a:spcPct val="20000"/>
        </a:spcBef>
        <a:spcAft>
          <a:spcPct val="0"/>
        </a:spcAft>
        <a:buChar char="»"/>
        <a:defRPr sz="2000">
          <a:solidFill>
            <a:schemeClr val="tx1">
              <a:alpha val="100000"/>
            </a:schemeClr>
          </a:solidFill>
          <a:latin typeface="+mn-lt"/>
        </a:defRPr>
      </a:lvl9pPr>
    </p:bodyStyle>
    <p:otherStyle>
      <a:lvl1pPr algn="l" eaLnBrk="0" fontAlgn="base" hangingPunct="0">
        <a:spcBef>
          <a:spcPct val="0"/>
        </a:spcBef>
        <a:spcAft>
          <a:spcPct val="0"/>
        </a:spcAft>
        <a:defRPr>
          <a:solidFill>
            <a:schemeClr val="tx1">
              <a:alpha val="100000"/>
            </a:schemeClr>
          </a:solidFill>
          <a:latin typeface="Arial"/>
        </a:defRPr>
      </a:lvl1pPr>
      <a:lvl2pPr marL="457200" algn="l" eaLnBrk="0" fontAlgn="base" hangingPunct="0">
        <a:spcBef>
          <a:spcPct val="0"/>
        </a:spcBef>
        <a:spcAft>
          <a:spcPct val="0"/>
        </a:spcAft>
        <a:defRPr>
          <a:solidFill>
            <a:schemeClr val="tx1">
              <a:alpha val="100000"/>
            </a:schemeClr>
          </a:solidFill>
          <a:latin typeface="Arial"/>
        </a:defRPr>
      </a:lvl2pPr>
      <a:lvl3pPr marL="914400" algn="l" eaLnBrk="0" fontAlgn="base" hangingPunct="0">
        <a:spcBef>
          <a:spcPct val="0"/>
        </a:spcBef>
        <a:spcAft>
          <a:spcPct val="0"/>
        </a:spcAft>
        <a:defRPr>
          <a:solidFill>
            <a:schemeClr val="tx1">
              <a:alpha val="100000"/>
            </a:schemeClr>
          </a:solidFill>
          <a:latin typeface="Arial"/>
        </a:defRPr>
      </a:lvl3pPr>
      <a:lvl4pPr marL="1371600" algn="l" eaLnBrk="0" fontAlgn="base" hangingPunct="0">
        <a:spcBef>
          <a:spcPct val="0"/>
        </a:spcBef>
        <a:spcAft>
          <a:spcPct val="0"/>
        </a:spcAft>
        <a:defRPr>
          <a:solidFill>
            <a:schemeClr val="tx1">
              <a:alpha val="100000"/>
            </a:schemeClr>
          </a:solidFill>
          <a:latin typeface="Arial"/>
        </a:defRPr>
      </a:lvl4pPr>
      <a:lvl5pPr marL="1828800" algn="l" eaLnBrk="0" fontAlgn="base" hangingPunct="0">
        <a:spcBef>
          <a:spcPct val="0"/>
        </a:spcBef>
        <a:spcAft>
          <a:spcPct val="0"/>
        </a:spcAft>
        <a:defRPr>
          <a:solidFill>
            <a:schemeClr val="tx1">
              <a:alpha val="100000"/>
            </a:schemeClr>
          </a:solidFill>
          <a:latin typeface="Arial"/>
        </a:defRPr>
      </a:lvl5pPr>
      <a:lvl6pPr marL="2286000" algn="l" eaLnBrk="0" fontAlgn="base" hangingPunct="0">
        <a:spcBef>
          <a:spcPct val="0"/>
        </a:spcBef>
        <a:spcAft>
          <a:spcPct val="0"/>
        </a:spcAft>
        <a:defRPr>
          <a:solidFill>
            <a:schemeClr val="tx1">
              <a:alpha val="100000"/>
            </a:schemeClr>
          </a:solidFill>
          <a:latin typeface="Arial"/>
        </a:defRPr>
      </a:lvl6pPr>
      <a:lvl7pPr marL="2743200" algn="l" eaLnBrk="0" fontAlgn="base" hangingPunct="0">
        <a:spcBef>
          <a:spcPct val="0"/>
        </a:spcBef>
        <a:spcAft>
          <a:spcPct val="0"/>
        </a:spcAft>
        <a:defRPr>
          <a:solidFill>
            <a:schemeClr val="tx1">
              <a:alpha val="100000"/>
            </a:schemeClr>
          </a:solidFill>
          <a:latin typeface="Arial"/>
        </a:defRPr>
      </a:lvl7pPr>
      <a:lvl8pPr marL="3200400" algn="l" eaLnBrk="0" fontAlgn="base" hangingPunct="0">
        <a:spcBef>
          <a:spcPct val="0"/>
        </a:spcBef>
        <a:spcAft>
          <a:spcPct val="0"/>
        </a:spcAft>
        <a:defRPr>
          <a:solidFill>
            <a:schemeClr val="tx1">
              <a:alpha val="100000"/>
            </a:schemeClr>
          </a:solidFill>
          <a:latin typeface="Arial"/>
        </a:defRPr>
      </a:lvl8pPr>
      <a:lvl9pPr marL="3657600" algn="l" eaLnBrk="0" fontAlgn="base" hangingPunct="0">
        <a:spcBef>
          <a:spcPct val="0"/>
        </a:spcBef>
        <a:spcAft>
          <a:spcPct val="0"/>
        </a:spcAft>
        <a:defRPr>
          <a:solidFill>
            <a:schemeClr val="tx1">
              <a:alpha val="100000"/>
            </a:schemeClr>
          </a:solidFill>
          <a:latin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1AFCB7F-F4A8-42E3-9277-CD1CC1307139}"/>
              </a:ext>
            </a:extLst>
          </p:cNvPr>
          <p:cNvSpPr txBox="1"/>
          <p:nvPr/>
        </p:nvSpPr>
        <p:spPr>
          <a:xfrm>
            <a:off x="2381250" y="2397948"/>
            <a:ext cx="74295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i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Linking with other packages:</a:t>
            </a:r>
          </a:p>
          <a:p>
            <a:pPr algn="ctr"/>
            <a:r>
              <a:rPr lang="en-US" sz="4000" b="1" i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Compartmental modelling in Odin</a:t>
            </a:r>
            <a:endParaRPr lang="en-US" sz="40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en-US" sz="24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sz="2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Bob Verity, Pete Winskill</a:t>
            </a:r>
          </a:p>
        </p:txBody>
      </p:sp>
    </p:spTree>
    <p:extLst>
      <p:ext uri="{BB962C8B-B14F-4D97-AF65-F5344CB8AC3E}">
        <p14:creationId xmlns:p14="http://schemas.microsoft.com/office/powerpoint/2010/main" val="16508268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1465EE9F-18A9-D6BE-2371-0BFE98C26D3F}"/>
              </a:ext>
            </a:extLst>
          </p:cNvPr>
          <p:cNvSpPr txBox="1"/>
          <p:nvPr/>
        </p:nvSpPr>
        <p:spPr>
          <a:xfrm>
            <a:off x="251602" y="117784"/>
            <a:ext cx="8077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i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Linking with other packages</a:t>
            </a:r>
            <a:endParaRPr lang="en-US" sz="36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B20E833-79AF-5D27-4A52-35224D6C7CA6}"/>
              </a:ext>
            </a:extLst>
          </p:cNvPr>
          <p:cNvSpPr txBox="1"/>
          <p:nvPr/>
        </p:nvSpPr>
        <p:spPr>
          <a:xfrm>
            <a:off x="575874" y="1140513"/>
            <a:ext cx="110402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Your likelihood and prior functions have access to any other packages and functions that are loaded in your environment</a:t>
            </a:r>
          </a:p>
        </p:txBody>
      </p:sp>
      <p:pic>
        <p:nvPicPr>
          <p:cNvPr id="4" name="Picture 3" descr="A drawing of a person sitting on a throne with two dogs&#10;&#10;Description automatically generated">
            <a:extLst>
              <a:ext uri="{FF2B5EF4-FFF2-40B4-BE49-F238E27FC236}">
                <a16:creationId xmlns:a16="http://schemas.microsoft.com/office/drawing/2014/main" id="{85FD9C16-1C9B-2649-A348-756C39C3FD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6770" y="1852730"/>
            <a:ext cx="1796430" cy="211722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D9B9B71-6AF5-5B81-1D61-B335D4B7207C}"/>
              </a:ext>
            </a:extLst>
          </p:cNvPr>
          <p:cNvSpPr txBox="1"/>
          <p:nvPr/>
        </p:nvSpPr>
        <p:spPr>
          <a:xfrm>
            <a:off x="575874" y="2347908"/>
            <a:ext cx="732352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Odin package makes it easy to solve systems of differential equations. It can handle both deterministic systems and stochastic systems.</a:t>
            </a:r>
            <a:r>
              <a:rPr lang="en-US" sz="2400" i="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i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It is therefore great for </a:t>
            </a:r>
            <a:r>
              <a:rPr lang="en-US" sz="2400" b="1" i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compartmental modelling</a:t>
            </a:r>
            <a:r>
              <a:rPr lang="en-US" sz="2400" i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endParaRPr lang="en-US" sz="2400" i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Picture 6" descr="A diagram of a circle with arrows&#10;&#10;Description automatically generated">
            <a:extLst>
              <a:ext uri="{FF2B5EF4-FFF2-40B4-BE49-F238E27FC236}">
                <a16:creationId xmlns:a16="http://schemas.microsoft.com/office/drawing/2014/main" id="{75188E3D-2C44-C255-FB96-35EFBCD582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6802" y="4439300"/>
            <a:ext cx="6302000" cy="16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30057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graph with black lines&#10;&#10;Description automatically generated">
            <a:extLst>
              <a:ext uri="{FF2B5EF4-FFF2-40B4-BE49-F238E27FC236}">
                <a16:creationId xmlns:a16="http://schemas.microsoft.com/office/drawing/2014/main" id="{091C51A0-A9FF-39C6-0213-462945459A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550" y="2057400"/>
            <a:ext cx="7772400" cy="443132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465EE9F-18A9-D6BE-2371-0BFE98C26D3F}"/>
              </a:ext>
            </a:extLst>
          </p:cNvPr>
          <p:cNvSpPr txBox="1"/>
          <p:nvPr/>
        </p:nvSpPr>
        <p:spPr>
          <a:xfrm>
            <a:off x="251602" y="117784"/>
            <a:ext cx="8077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i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Flu prevalence survey data</a:t>
            </a:r>
            <a:endParaRPr lang="en-US" sz="36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1F6606BB-468E-E054-6CDD-B299EB87EBD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3200" y="1581150"/>
            <a:ext cx="5562600" cy="151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25019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1465EE9F-18A9-D6BE-2371-0BFE98C26D3F}"/>
              </a:ext>
            </a:extLst>
          </p:cNvPr>
          <p:cNvSpPr txBox="1"/>
          <p:nvPr/>
        </p:nvSpPr>
        <p:spPr>
          <a:xfrm>
            <a:off x="251602" y="117784"/>
            <a:ext cx="8077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i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SIR model</a:t>
            </a:r>
            <a:endParaRPr lang="en-US" sz="36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 descr="A graph with different colored lines&#10;&#10;Description automatically generated">
            <a:extLst>
              <a:ext uri="{FF2B5EF4-FFF2-40B4-BE49-F238E27FC236}">
                <a16:creationId xmlns:a16="http://schemas.microsoft.com/office/drawing/2014/main" id="{8F3DA112-921D-9546-A3CC-BC497D9D47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999" y="1178503"/>
            <a:ext cx="7118349" cy="40584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9FED548-AF2A-B29D-7E14-5A53FAD1AE96}"/>
                  </a:ext>
                </a:extLst>
              </p:cNvPr>
              <p:cNvSpPr txBox="1"/>
              <p:nvPr/>
            </p:nvSpPr>
            <p:spPr>
              <a:xfrm>
                <a:off x="8328802" y="1652210"/>
                <a:ext cx="3621898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2400" b="1" i="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Parameters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𝛽</m:t>
                    </m:r>
                  </m:oMath>
                </a14:m>
                <a:r>
                  <a:rPr lang="en-US" sz="2400" i="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= transmission rate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𝛾</m:t>
                    </m:r>
                  </m:oMath>
                </a14:m>
                <a:r>
                  <a:rPr lang="en-US" sz="2400" i="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= recovery rate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𝐼</m:t>
                        </m:r>
                      </m:e>
                      <m:sub>
                        <m:r>
                          <a:rPr lang="en-GB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𝑖𝑛𝑖</m:t>
                        </m:r>
                      </m:sub>
                    </m:sSub>
                  </m:oMath>
                </a14:m>
                <a:r>
                  <a:rPr lang="en-US" sz="2400" i="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= initial infected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9FED548-AF2A-B29D-7E14-5A53FAD1AE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8802" y="1652210"/>
                <a:ext cx="3621898" cy="2308324"/>
              </a:xfrm>
              <a:prstGeom prst="rect">
                <a:avLst/>
              </a:prstGeom>
              <a:blipFill>
                <a:blip r:embed="rId4"/>
                <a:stretch>
                  <a:fillRect l="-2448" b="-27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E7C1F4E6-EAA2-8E0A-1E74-6BDD70B68180}"/>
              </a:ext>
            </a:extLst>
          </p:cNvPr>
          <p:cNvSpPr txBox="1"/>
          <p:nvPr/>
        </p:nvSpPr>
        <p:spPr>
          <a:xfrm>
            <a:off x="7964876" y="4958642"/>
            <a:ext cx="398582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Can we estimate all three parameters via MCMC?</a:t>
            </a:r>
          </a:p>
        </p:txBody>
      </p:sp>
      <p:pic>
        <p:nvPicPr>
          <p:cNvPr id="2" name="Picture 1" descr="A diagram of a circle with arrows&#10;&#10;Description automatically generated">
            <a:extLst>
              <a:ext uri="{FF2B5EF4-FFF2-40B4-BE49-F238E27FC236}">
                <a16:creationId xmlns:a16="http://schemas.microsoft.com/office/drawing/2014/main" id="{12F6E385-E7AA-3E81-2C87-5479B9E1484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4345" y="5147684"/>
            <a:ext cx="4921655" cy="1283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69334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1AFCB7F-F4A8-42E3-9277-CD1CC1307139}"/>
              </a:ext>
            </a:extLst>
          </p:cNvPr>
          <p:cNvSpPr txBox="1"/>
          <p:nvPr/>
        </p:nvSpPr>
        <p:spPr>
          <a:xfrm>
            <a:off x="3505200" y="2721114"/>
            <a:ext cx="5181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i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Results</a:t>
            </a:r>
            <a:endParaRPr lang="en-US" sz="24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90577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AA340E05-DF95-6E2C-84BD-49257A12F4AD}"/>
              </a:ext>
            </a:extLst>
          </p:cNvPr>
          <p:cNvSpPr txBox="1"/>
          <p:nvPr/>
        </p:nvSpPr>
        <p:spPr>
          <a:xfrm>
            <a:off x="251602" y="117784"/>
            <a:ext cx="80772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b="1" i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Scatterplots</a:t>
            </a:r>
            <a:endParaRPr lang="en-US" sz="34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Picture 5" descr="A screenshot of a graph&#10;&#10;Description automatically generated">
            <a:extLst>
              <a:ext uri="{FF2B5EF4-FFF2-40B4-BE49-F238E27FC236}">
                <a16:creationId xmlns:a16="http://schemas.microsoft.com/office/drawing/2014/main" id="{962E44B8-BD3E-311C-FE6A-D4D03CC8D8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6578" y="975052"/>
            <a:ext cx="8421522" cy="5400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5046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1465EE9F-18A9-D6BE-2371-0BFE98C26D3F}"/>
              </a:ext>
            </a:extLst>
          </p:cNvPr>
          <p:cNvSpPr txBox="1"/>
          <p:nvPr/>
        </p:nvSpPr>
        <p:spPr>
          <a:xfrm>
            <a:off x="251602" y="117784"/>
            <a:ext cx="8077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i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Brute force or parallel tempering?</a:t>
            </a:r>
            <a:endParaRPr lang="en-US" sz="36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F6D25A-FB2F-0189-05F1-85580542292A}"/>
              </a:ext>
            </a:extLst>
          </p:cNvPr>
          <p:cNvSpPr txBox="1"/>
          <p:nvPr/>
        </p:nvSpPr>
        <p:spPr>
          <a:xfrm>
            <a:off x="584200" y="1206500"/>
            <a:ext cx="11023600" cy="3359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i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Brute force (1 rung, 10,000 samples): around 19 seconds, min ESS around 400</a:t>
            </a:r>
            <a:endParaRPr lang="en-US" sz="24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i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PT (10 rungs, alpha = 3, 2,000 samples): around 50 seconds, min ESS around 950</a:t>
            </a:r>
            <a:endParaRPr lang="en-US" sz="24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i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Per sample, PT wins easily. Per second it is a draw, at around 20 effective samples per second either way</a:t>
            </a:r>
            <a:endParaRPr lang="en-US" sz="24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i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This posterior is a single curved ridge, so a simple sampler gets there in the end. PT earns its keep when there are multiple peaks</a:t>
            </a:r>
            <a:endParaRPr lang="en-US" sz="24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62790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AA340E05-DF95-6E2C-84BD-49257A12F4AD}"/>
              </a:ext>
            </a:extLst>
          </p:cNvPr>
          <p:cNvSpPr txBox="1"/>
          <p:nvPr/>
        </p:nvSpPr>
        <p:spPr>
          <a:xfrm>
            <a:off x="251602" y="117784"/>
            <a:ext cx="80772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b="1" i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R0</a:t>
            </a:r>
            <a:endParaRPr lang="en-US" sz="34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 descr="A graph of a normal distribution&#10;&#10;Description automatically generated">
            <a:extLst>
              <a:ext uri="{FF2B5EF4-FFF2-40B4-BE49-F238E27FC236}">
                <a16:creationId xmlns:a16="http://schemas.microsoft.com/office/drawing/2014/main" id="{356B6FE7-79E2-EC9F-E5B8-69EB5F4EDB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902" y="1473200"/>
            <a:ext cx="6489776" cy="37211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6E654BA-BD14-36E4-6CD9-90A1A8901C59}"/>
                  </a:ext>
                </a:extLst>
              </p:cNvPr>
              <p:cNvSpPr txBox="1"/>
              <p:nvPr/>
            </p:nvSpPr>
            <p:spPr>
              <a:xfrm>
                <a:off x="7461673" y="2143813"/>
                <a:ext cx="4438227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i="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R0 is equal to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fPr>
                      <m:num>
                        <m:r>
                          <a:rPr 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𝛽</m:t>
                        </m:r>
                      </m:num>
                      <m:den>
                        <m:r>
                          <a:rPr 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𝛾</m:t>
                        </m:r>
                      </m:den>
                    </m:f>
                  </m:oMath>
                </a14:m>
                <a:r>
                  <a:rPr lang="en-US" sz="2400" i="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under this model.</a:t>
                </a:r>
              </a:p>
              <a:p>
                <a:endParaRPr lang="en-US" sz="2400" i="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n-US" sz="2400" i="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R0 is precisely estimated, even though beta and gamma are not</a:t>
                </a:r>
                <a:endParaRPr lang="en-US" sz="2400" i="0" dirty="0">
                  <a:solidFill>
                    <a:srgbClr val="0070C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6E654BA-BD14-36E4-6CD9-90A1A8901C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1673" y="2143813"/>
                <a:ext cx="4438227" cy="1938992"/>
              </a:xfrm>
              <a:prstGeom prst="rect">
                <a:avLst/>
              </a:prstGeom>
              <a:blipFill>
                <a:blip r:embed="rId4"/>
                <a:stretch>
                  <a:fillRect l="-2286" t="-29870" b="-64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941870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AA340E05-DF95-6E2C-84BD-49257A12F4AD}"/>
              </a:ext>
            </a:extLst>
          </p:cNvPr>
          <p:cNvSpPr txBox="1"/>
          <p:nvPr/>
        </p:nvSpPr>
        <p:spPr>
          <a:xfrm>
            <a:off x="251602" y="117784"/>
            <a:ext cx="80772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b="1" i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Model fit from the survey</a:t>
            </a:r>
            <a:endParaRPr lang="en-US" sz="34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 descr="A graph with blue lines and black dots&#10;&#10;Description automatically generated">
            <a:extLst>
              <a:ext uri="{FF2B5EF4-FFF2-40B4-BE49-F238E27FC236}">
                <a16:creationId xmlns:a16="http://schemas.microsoft.com/office/drawing/2014/main" id="{25FF8C22-BE08-9D7B-BC8D-658E2307E1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902" y="1435100"/>
            <a:ext cx="9403644" cy="497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2478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5FF8C22-BE08-9D7B-BC8D-658E2307E1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00902" y="1435100"/>
            <a:ext cx="9403644" cy="497839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1D65230-0CB9-F8A9-8E57-5465F29682AE}"/>
              </a:ext>
            </a:extLst>
          </p:cNvPr>
          <p:cNvSpPr txBox="1"/>
          <p:nvPr/>
        </p:nvSpPr>
        <p:spPr>
          <a:xfrm>
            <a:off x="251602" y="117784"/>
            <a:ext cx="80772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b="1" i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Model fit from the enhanced survey</a:t>
            </a:r>
            <a:endParaRPr lang="en-US" sz="34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1903966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0000"/>
                <a:satMod val="155000"/>
              </a:schemeClr>
            </a:gs>
            <a:gs pos="65000">
              <a:schemeClr val="phClr">
                <a:shade val="85000"/>
                <a:satMod val="155000"/>
              </a:schemeClr>
            </a:gs>
            <a:gs pos="100000">
              <a:schemeClr val="phClr">
                <a:shade val="95000"/>
                <a:satMod val="155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algn="tl" rotWithShape="0">
              <a:srgbClr val="000000">
                <a:alpha val="64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prstMaterial="matte">
            <a:bevelT h="22225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0000"/>
                <a:satMod val="155000"/>
              </a:schemeClr>
            </a:gs>
            <a:gs pos="35000">
              <a:schemeClr val="phClr">
                <a:shade val="75000"/>
                <a:satMod val="155000"/>
              </a:schemeClr>
            </a:gs>
            <a:gs pos="100000">
              <a:schemeClr val="phClr">
                <a:tint val="80000"/>
                <a:satMod val="255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9096</TotalTime>
  <Words>231</Words>
  <Application>Microsoft Macintosh PowerPoint</Application>
  <PresentationFormat>Widescreen</PresentationFormat>
  <Paragraphs>33</Paragraphs>
  <Slides>10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Cambria Math</vt:lpstr>
      <vt:lpstr>Times New Roman</vt:lpstr>
      <vt:lpstr>Verdana</vt:lpstr>
      <vt:lpstr>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Publications Communications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Imperial College London</dc:title>
  <dc:creator>Seipp, Karsten</dc:creator>
  <cp:lastModifiedBy>Verity, Robert J</cp:lastModifiedBy>
  <cp:revision>546</cp:revision>
  <dcterms:modified xsi:type="dcterms:W3CDTF">2026-09-21T13:37:19Z</dcterms:modified>
</cp:coreProperties>
</file>